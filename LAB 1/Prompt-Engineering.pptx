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5.png"/><Relationship Id="rId8" Type="http://schemas.openxmlformats.org/officeDocument/2006/relationships/image" Target="../media/image-2-6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FCCD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8985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32907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Prompt Engineering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030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Introduction to Prompt Engineering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409898"/>
            <a:ext cx="360264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Core Concepts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04280"/>
            <a:ext cx="3602642" cy="10854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3719" y="1850330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3719" y="2134096"/>
            <a:ext cx="3234351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systems that generate new content such as text, code, images, audio, or video based on patterns learned from data.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75062"/>
            <a:ext cx="3602642" cy="10854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3719" y="3021112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Large Language Model (LLM)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83719" y="3304877"/>
            <a:ext cx="3234351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neural network trained on large amounts of text data to understand and generate language by predicting likely next tokens.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45843"/>
            <a:ext cx="3602642" cy="9155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3719" y="4191893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Prompt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83719" y="4475659"/>
            <a:ext cx="3234351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text instruction or query given to an AI model to guide its response.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046762"/>
            <a:ext cx="3602642" cy="9155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3719" y="5192812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83719" y="5476577"/>
            <a:ext cx="3234351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practice of crafting effective prompts to elicit desired outputs from AI models.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580220" y="1165225"/>
            <a:ext cx="69562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951289" y="1503263"/>
            <a:ext cx="305367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Output Quality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951289" y="1787029"/>
            <a:ext cx="3053678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changes in wording significantly impact output quality and accuracy.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8482693" y="1503263"/>
            <a:ext cx="305377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 Retraining Required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482693" y="1787029"/>
            <a:ext cx="3053778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 engineering can improve how an existing model is used without changing or retraining its underlying parameters.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951289" y="2510929"/>
            <a:ext cx="658518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Developer Productivity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951289" y="2794695"/>
            <a:ext cx="6585182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iteration time and is a critical skill in modern software workflows.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0799" y="3060502"/>
            <a:ext cx="6874993" cy="31465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885005" y="5459825"/>
            <a:ext cx="1290724" cy="248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Output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8258340" y="5335501"/>
            <a:ext cx="1290723" cy="49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LLM Processing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6640515" y="5459825"/>
            <a:ext cx="1290724" cy="248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Send to LLM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4987329" y="5459825"/>
            <a:ext cx="1290723" cy="248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User Prompt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37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Anatomy of a Good Prompt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6775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Components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1988939"/>
            <a:ext cx="2544004" cy="1242516"/>
          </a:xfrm>
          <a:prstGeom prst="roundRect">
            <a:avLst>
              <a:gd name="adj" fmla="val 119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21590" dir="270000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3119" y="2160588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Role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2563713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"You are a senior code reviewer…"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0137" y="1988939"/>
            <a:ext cx="2544004" cy="1242516"/>
          </a:xfrm>
          <a:prstGeom prst="roundRect">
            <a:avLst>
              <a:gd name="adj" fmla="val 119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21590" dir="2700000">
              <a:srgbClr val="e5b2b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1781" y="2160588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1781" y="2563713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Clearly state what you want the AI to 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376116"/>
            <a:ext cx="2544004" cy="1242516"/>
          </a:xfrm>
          <a:prstGeom prst="roundRect">
            <a:avLst>
              <a:gd name="adj" fmla="val 119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21590" dir="2700000">
              <a:srgbClr val="e5b2b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119" y="3547765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119" y="3950891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 relevant background and constraints.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50137" y="3376116"/>
            <a:ext cx="2544004" cy="1242516"/>
          </a:xfrm>
          <a:prstGeom prst="roundRect">
            <a:avLst>
              <a:gd name="adj" fmla="val 119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21590" dir="2700000">
              <a:srgbClr val="e5b2b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1781" y="3547765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1781" y="3950891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Specify rules, format, length, or style.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763294"/>
            <a:ext cx="2544004" cy="1242516"/>
          </a:xfrm>
          <a:prstGeom prst="roundRect">
            <a:avLst>
              <a:gd name="adj" fmla="val 119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21590" dir="2700000">
              <a:srgbClr val="e5b2b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119" y="4934942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119" y="5338068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input-output pairs (few-shot prompting).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50137" y="4763294"/>
            <a:ext cx="2544004" cy="1242516"/>
          </a:xfrm>
          <a:prstGeom prst="roundRect">
            <a:avLst>
              <a:gd name="adj" fmla="val 119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21590" dir="2700000">
              <a:srgbClr val="e5b2b7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21781" y="4934942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Output Format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21781" y="5338068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Specify structure: JSON, markdown, bullets, etc.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3904" y="156775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Poor vs. Engineered Prompt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1945" y="2133600"/>
            <a:ext cx="49846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Poor Prompt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1945" y="2536726"/>
            <a:ext cx="559421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"Fix my code."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3904" y="1988939"/>
            <a:ext cx="19050" cy="926009"/>
          </a:xfrm>
          <a:prstGeom prst="roundRect">
            <a:avLst>
              <a:gd name="adj" fmla="val 49999"/>
            </a:avLst>
          </a:prstGeom>
          <a:solidFill>
            <a:srgbClr val="FFC7CD"/>
          </a:solidFill>
          <a:ln/>
        </p:spPr>
      </p:sp>
      <p:sp>
        <p:nvSpPr>
          <p:cNvPr id="26" name="Text 24"/>
          <p:cNvSpPr/>
          <p:nvPr/>
        </p:nvSpPr>
        <p:spPr>
          <a:xfrm>
            <a:off x="6551945" y="3222327"/>
            <a:ext cx="49846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Engineered Prompt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51945" y="3625453"/>
            <a:ext cx="4984625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"You are a Python expert. Review this function for bugs and performance issues. Provide output as: [Issue], [Severity: High/Medium/Low], [Fix]. Only report actual errors, not style suggestions."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3904" y="3077666"/>
            <a:ext cx="19050" cy="1670149"/>
          </a:xfrm>
          <a:prstGeom prst="roundRect">
            <a:avLst>
              <a:gd name="adj" fmla="val 49999"/>
            </a:avLst>
          </a:prstGeom>
          <a:solidFill>
            <a:srgbClr val="FFC7CD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3904" y="4910534"/>
            <a:ext cx="5232666" cy="838994"/>
          </a:xfrm>
          <a:prstGeom prst="roundRect">
            <a:avLst>
              <a:gd name="adj" fmla="val 17742"/>
            </a:avLst>
          </a:prstGeom>
          <a:solidFill>
            <a:srgbClr val="FFCCD1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198" y="5129609"/>
            <a:ext cx="206667" cy="16529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841160" y="5081984"/>
            <a:ext cx="45301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prompts produce consistent, actionable, and higher-quality responses.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How Prompting Works &amp; Major Techniques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90953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3746216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Next-Token Prediction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3746216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LLM Processing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3746216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Context Window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389906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Tokenization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389906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User Input</a:t>
            </a:r>
            <a:endParaRPr lang="en-US" sz="1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34248"/>
            <a:ext cx="189007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475" y="5158581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Zero-shot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61475" y="5334496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the model directly without any examples — relies on pre-trained knowledge.</a:t>
            </a:r>
            <a:endParaRPr lang="en-US" sz="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5315" y="4934248"/>
            <a:ext cx="189007" cy="1890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5315" y="5158581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Few-shot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125315" y="5334496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 one or more input-output examples to guide and calibrate model behavior.</a:t>
            </a:r>
            <a:endParaRPr lang="en-US" sz="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566073"/>
            <a:ext cx="189007" cy="1890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475" y="5790406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Role Prompting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61475" y="5966321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 a persona to the model — "You are a DevOps engineer with 10 years experience."</a:t>
            </a:r>
            <a:endParaRPr lang="en-US" sz="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25315" y="5566073"/>
            <a:ext cx="189007" cy="1890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25315" y="5790406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Task Decomposition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125315" y="5966321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 complex tasks into smaller, sequential steps for better accuracy.</a:t>
            </a:r>
            <a:endParaRPr lang="en-US" sz="7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6197898"/>
            <a:ext cx="189007" cy="1890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1475" y="6422231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RAG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661475" y="6598146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Retrieval-Augmented Generation — combine external knowledge retrieval with generation.</a:t>
            </a:r>
            <a:endParaRPr lang="en-US" sz="7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25315" y="6197898"/>
            <a:ext cx="189007" cy="1890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125315" y="6422231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Tool Calling / Agents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6125315" y="6598146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models to call functions or APIs to extend their capabilities dynamically.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841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Prompt Engineering in Software Development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61158"/>
            <a:ext cx="3569901" cy="3569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97880" y="1290638"/>
            <a:ext cx="693859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Practical Applications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3243" y="1655663"/>
            <a:ext cx="221451" cy="221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77690" y="1651099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Requirements &amp; User Stories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077690" y="1997075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Generate, refine, and validate requirements from natural language descriptions.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3243" y="2442666"/>
            <a:ext cx="221451" cy="221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77690" y="2438102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Code Generation &amp; Refactoring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5077690" y="278407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 boilerplate, optimize existing code, and suggest architectural improvements.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3243" y="3229670"/>
            <a:ext cx="221451" cy="221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77690" y="3225105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Testing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5077690" y="3571081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Auto-generate unit tests, integration tests, and edge-case scenarios.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53243" y="4016673"/>
            <a:ext cx="221451" cy="221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77690" y="4012109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Debugging &amp; Code Review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5077690" y="4358084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Root cause analysis, quality assessment, and security vulnerability detection.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3243" y="4803676"/>
            <a:ext cx="221451" cy="221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77690" y="4799112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Documentation &amp; Queries</a:t>
            </a:r>
            <a:endParaRPr lang="en-US" sz="1450" dirty="0"/>
          </a:p>
        </p:txBody>
      </p:sp>
      <p:sp>
        <p:nvSpPr>
          <p:cNvPr id="19" name="Text 11"/>
          <p:cNvSpPr/>
          <p:nvPr/>
        </p:nvSpPr>
        <p:spPr>
          <a:xfrm>
            <a:off x="5077690" y="514508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API specs, SQL queries, schema designs, and technical documentation.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4597880" y="5485209"/>
            <a:ext cx="6938590" cy="702072"/>
          </a:xfrm>
          <a:prstGeom prst="roundRect">
            <a:avLst>
              <a:gd name="adj" fmla="val 18930"/>
            </a:avLst>
          </a:prstGeom>
          <a:solidFill>
            <a:srgbClr val="FCF2B5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5514" y="5660628"/>
            <a:ext cx="184542" cy="14763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77690" y="5625902"/>
            <a:ext cx="6311147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Critical Principle: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AI assistance does NOT replace testing, code review, or human validation. All AI-generated outputs must be thoroughly reviewed before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87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Limitations, Security &amp; Conclusion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022052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Limitations &amp; Risks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222772"/>
            <a:ext cx="3654135" cy="522585"/>
          </a:xfrm>
          <a:prstGeom prst="roundRect">
            <a:avLst>
              <a:gd name="adj" fmla="val 16276"/>
            </a:avLst>
          </a:prstGeom>
          <a:solidFill>
            <a:srgbClr val="FFFFFF"/>
          </a:solidFill>
          <a:ln w="1270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11430" dir="270000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628" y="1329928"/>
            <a:ext cx="34398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Hallucinations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628" y="1524794"/>
            <a:ext cx="343982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generate plausible-sounding but factually false information.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61475" y="1792585"/>
            <a:ext cx="3654135" cy="522585"/>
          </a:xfrm>
          <a:prstGeom prst="roundRect">
            <a:avLst>
              <a:gd name="adj" fmla="val 16276"/>
            </a:avLst>
          </a:prstGeom>
          <a:solidFill>
            <a:srgbClr val="FFFFFF"/>
          </a:solidFill>
          <a:ln w="1270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11430" dir="2700000">
              <a:srgbClr val="e5b2b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628" y="1899741"/>
            <a:ext cx="34398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🎲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Non-Determinism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628" y="2094607"/>
            <a:ext cx="343982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prompt may produce different results across runs.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61475" y="2362398"/>
            <a:ext cx="3654135" cy="635992"/>
          </a:xfrm>
          <a:prstGeom prst="roundRect">
            <a:avLst>
              <a:gd name="adj" fmla="val 13374"/>
            </a:avLst>
          </a:prstGeom>
          <a:solidFill>
            <a:srgbClr val="FFFFFF"/>
          </a:solidFill>
          <a:ln w="1270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11430" dir="2700000">
              <a:srgbClr val="e5b2b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628" y="2469555"/>
            <a:ext cx="34398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📏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Context Limits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628" y="2664420"/>
            <a:ext cx="343982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have a maximum context capacity, and inputs that exceed it may be truncated, rejected, or otherwise handled differently depending on the system.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61475" y="3045619"/>
            <a:ext cx="3654135" cy="635992"/>
          </a:xfrm>
          <a:prstGeom prst="roundRect">
            <a:avLst>
              <a:gd name="adj" fmla="val 13374"/>
            </a:avLst>
          </a:prstGeom>
          <a:solidFill>
            <a:srgbClr val="FFFFFF"/>
          </a:solidFill>
          <a:ln w="1270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11430" dir="2700000">
              <a:srgbClr val="e5b2b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628" y="3152775"/>
            <a:ext cx="34398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💉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Prompt Injection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628" y="3347641"/>
            <a:ext cx="343982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Malicious or untrusted input attempts to manipulate the model into ignoring or conflicting with its intended instructions.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61475" y="3728839"/>
            <a:ext cx="3654135" cy="635992"/>
          </a:xfrm>
          <a:prstGeom prst="roundRect">
            <a:avLst>
              <a:gd name="adj" fmla="val 13374"/>
            </a:avLst>
          </a:prstGeom>
          <a:solidFill>
            <a:srgbClr val="FFFFFF"/>
          </a:solidFill>
          <a:ln w="1270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11430" dir="2700000">
              <a:srgbClr val="e5b2b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628" y="3835995"/>
            <a:ext cx="34398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Data Leakage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628" y="4030861"/>
            <a:ext cx="343982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Sensitive data in prompts may be logged or exposed. Never include secrets or PII.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61475" y="4412059"/>
            <a:ext cx="3654135" cy="522585"/>
          </a:xfrm>
          <a:prstGeom prst="roundRect">
            <a:avLst>
              <a:gd name="adj" fmla="val 16276"/>
            </a:avLst>
          </a:prstGeom>
          <a:solidFill>
            <a:srgbClr val="FFFFFF"/>
          </a:solidFill>
          <a:ln w="12700">
            <a:solidFill>
              <a:srgbClr val="E5B2B7"/>
            </a:solidFill>
            <a:prstDash val="solid"/>
          </a:ln>
          <a:effectLst>
            <a:outerShdw sx="100000" sy="100000" kx="0" ky="0" algn="bl" rotWithShape="0" blurRad="127" dist="11430" dir="2700000">
              <a:srgbClr val="e5b2b7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628" y="4519216"/>
            <a:ext cx="34398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🏴‍☠️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Jailbreaking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628" y="4714081"/>
            <a:ext cx="343982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Adversarial prompts can bypass safety guidelines.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52538" y="1441847"/>
            <a:ext cx="69839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Defensive Practices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538" y="1661418"/>
            <a:ext cx="6983932" cy="262076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195495" y="3627116"/>
            <a:ext cx="1053388" cy="20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Software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867937" y="3627116"/>
            <a:ext cx="1053388" cy="20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Validate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547594" y="3627116"/>
            <a:ext cx="1053388" cy="20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Output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227251" y="3627116"/>
            <a:ext cx="1053388" cy="20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LLM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878048" y="3627116"/>
            <a:ext cx="1053388" cy="20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Prompt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694219" y="4358878"/>
            <a:ext cx="745183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F46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Prompt Engineering = Clear Instructions + Relevant Context + Constraints + Evaluation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552538" y="4316413"/>
            <a:ext cx="12700" cy="198338"/>
          </a:xfrm>
          <a:prstGeom prst="roundRect">
            <a:avLst>
              <a:gd name="adj" fmla="val 49999"/>
            </a:avLst>
          </a:prstGeom>
          <a:solidFill>
            <a:srgbClr val="FFC7CD"/>
          </a:solidFill>
          <a:ln/>
        </p:spPr>
      </p:sp>
      <p:sp>
        <p:nvSpPr>
          <p:cNvPr id="31" name="Text 28"/>
          <p:cNvSpPr/>
          <p:nvPr/>
        </p:nvSpPr>
        <p:spPr>
          <a:xfrm>
            <a:off x="661475" y="5040809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61475" y="5188645"/>
            <a:ext cx="5410759" cy="1270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33" name="Text 30"/>
          <p:cNvSpPr/>
          <p:nvPr/>
        </p:nvSpPr>
        <p:spPr>
          <a:xfrm>
            <a:off x="661475" y="5261273"/>
            <a:ext cx="541075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Validate All Outputs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61475" y="5437188"/>
            <a:ext cx="541075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test and review AI-generated code before deployment.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119461" y="5040809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6119461" y="5188645"/>
            <a:ext cx="5410759" cy="1270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37" name="Text 34"/>
          <p:cNvSpPr/>
          <p:nvPr/>
        </p:nvSpPr>
        <p:spPr>
          <a:xfrm>
            <a:off x="6119461" y="5261273"/>
            <a:ext cx="541075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Protect Sensitive Data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119461" y="5437188"/>
            <a:ext cx="541075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include credentials, API keys, or PII in prompts.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61475" y="5668665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661475" y="5807075"/>
            <a:ext cx="5410759" cy="1270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41" name="Text 38"/>
          <p:cNvSpPr/>
          <p:nvPr/>
        </p:nvSpPr>
        <p:spPr>
          <a:xfrm>
            <a:off x="661475" y="5889129"/>
            <a:ext cx="541075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Least Privilege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61475" y="6065044"/>
            <a:ext cx="541075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minimal permissions to any AI-connected system or agent.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119461" y="5668665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6119461" y="5807075"/>
            <a:ext cx="5410759" cy="1270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45" name="Text 42"/>
          <p:cNvSpPr/>
          <p:nvPr/>
        </p:nvSpPr>
        <p:spPr>
          <a:xfrm>
            <a:off x="6119461" y="5889129"/>
            <a:ext cx="541075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Treat External Input as Untrusted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119461" y="6065044"/>
            <a:ext cx="541075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retrieved externally may be adversarially crafted.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2026-09-16T19:14:05Z</dcterms:created>
  <dcterms:modified xsi:type="dcterms:W3CDTF">2026-09-16T19:14:05Z</dcterms:modified>
</cp:coreProperties>
</file>